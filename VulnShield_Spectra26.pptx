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judges. My name is Bernish, and today I am presenting my research and working prototype on a unified cybersecurity system called Vuln-Shield.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problem in cybersecurity today is fragmentation. Hackers don't just attack your web server; they attack your employees' laptops and steal passwords from the dark web. Small startups can't afford expensive tools to monitor all these different areas.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I developed Vuln-Shield. It is a lightweight, centralized dashboard that provides enterprise-grade protection for zero cost. It monitors the web server, the local employee devices, and global threat databases all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built for speed. Instead of heavy frameworks, the frontend uses pure Vanilla JavaScript for lightning-fast manipulation. The backend is powered by Node.js, which uses an asynchronous, non-blocking model to run multiple heavy security scans concurrently.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module is the Web Scanner. It acts as an automated auditor that fetches and parses HTTP security headers from any target URL. It looks for missing headers that lead to OWASP Top 10 vulnerabilities, like Clickjacking, and flags them instantly.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powerful feature is our Threat Intelligence module. Vuln-Shield connects to a live, global Dark Web API. If an employee's email was leaked in a massive hack, our system alerts the admin immediately so they can force a password reset.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module is the Device Audit. It evaluates the local machine running the dashboard, checking OS integrity and secure protocols. It outputs a compliance score, ensuring that an employee's laptop is safe before they access sensitive company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newest module is the Laptop and Mobile Spyware Scanner. Using advanced browser APIs, it detects if a device is being actively hacked or tracked. It flags unencrypted traffic and rogue hardware access, stopping spyware from exfiltrating sensitive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to show this in action, we built a Live AI Attack and Defense Simulator. It simulates real-world hacks like SQL Injections. The moment an attack happens, our system generates and applies a secure code patch in seconds, turning Vuln-Shield from a monitoring tool into an active defense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all of this data is useless if managers can't read it. So, I integrated an automated PDF generator that aggregates the Web Scan, Device Audit, and Threat Intel results into one professional executive report, ready to be handed to a CEO or compliance officer.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future scope, I plan to integrate Generative AI. Currently, Vuln-Shield finds the bugs. With an AI integration, Vuln-Shield will actually write the secure code needed to patch the server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Vuln-Shield proves that comprehensive cybersecurity doesn't have to be expensive or overly complicated. By unifying Web, Device, and Dark Web auditing, we create a stronger, faster defense. Thank you for your time,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ctrTitle"/>
          </p:nvPr>
        </p:nvSpPr>
        <p:spPr/>
        <p:txBody>
          <a:bodyPr/>
          <a:lstStyle/>
          <a:p>
            <a:r>
              <a:rPr sz="4400" b="1">
                <a:solidFill>
                  <a:srgbClr val="0AFF89"/>
                </a:solidFill>
                <a:latin typeface="Arial"/>
              </a:rPr>
              <a:t>VULN-SHIELD: Next-Gen Cyber Defense</a:t>
            </a:r>
          </a:p>
        </p:txBody>
      </p:sp>
      <p:sp>
        <p:nvSpPr>
          <p:cNvPr id="3" name="Subtitle 2"/>
          <p:cNvSpPr>
            <a:spLocks noGrp="1"/>
          </p:cNvSpPr>
          <p:nvPr>
            <p:ph type="subTitle" idx="1"/>
          </p:nvPr>
        </p:nvSpPr>
        <p:spPr/>
        <p:txBody>
          <a:bodyPr/>
          <a:lstStyle/>
          <a:p>
            <a:r>
              <a:rPr sz="2400" b="0">
                <a:solidFill>
                  <a:srgbClr val="A8B2D1"/>
                </a:solidFill>
                <a:latin typeface="Arial"/>
              </a:rPr>
              <a:t>Spectra 2026 Paper Presentation</a:t>
            </a:r>
          </a:p>
          <a:p>
            <a:r>
              <a:rPr sz="2400" b="0">
                <a:solidFill>
                  <a:srgbClr val="A8B2D1"/>
                </a:solidFill>
                <a:latin typeface="Arial"/>
              </a:rPr>
              <a:t>Cyber Security and Digital Technology</a:t>
            </a:r>
          </a:p>
          <a:p>
            <a:r>
              <a:rPr sz="2400" b="0">
                <a:solidFill>
                  <a:srgbClr val="A8B2D1"/>
                </a:solidFill>
                <a:latin typeface="Arial"/>
              </a:rPr>
              <a:t>Presented by: Bernish12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The Fragmentation of Modern Security</a:t>
            </a:r>
          </a:p>
        </p:txBody>
      </p:sp>
      <p:sp>
        <p:nvSpPr>
          <p:cNvPr id="3" name="Content Placeholder 2"/>
          <p:cNvSpPr>
            <a:spLocks noGrp="1"/>
          </p:cNvSpPr>
          <p:nvPr>
            <p:ph idx="1"/>
          </p:nvPr>
        </p:nvSpPr>
        <p:spPr/>
        <p:txBody>
          <a:bodyPr/>
          <a:lstStyle/>
          <a:p/>
          <a:p>
            <a:pPr/>
            <a:r>
              <a:rPr sz="2800" b="0">
                <a:solidFill>
                  <a:srgbClr val="CCD6F6"/>
                </a:solidFill>
                <a:latin typeface="Arial"/>
              </a:rPr>
              <a:t>Cyber attacks target multiple vectors simultaneously.</a:t>
            </a:r>
          </a:p>
          <a:p>
            <a:pPr/>
            <a:r>
              <a:rPr sz="2800" b="0">
                <a:solidFill>
                  <a:srgbClr val="CCD6F6"/>
                </a:solidFill>
                <a:latin typeface="Arial"/>
              </a:rPr>
              <a:t>Current tools only scan one layer at a time (network OR local OS).</a:t>
            </a:r>
          </a:p>
          <a:p>
            <a:pPr/>
            <a:r>
              <a:rPr sz="2800" b="0">
                <a:solidFill>
                  <a:srgbClr val="CCD6F6"/>
                </a:solidFill>
                <a:latin typeface="Arial"/>
              </a:rPr>
              <a:t>Small enterprises lack the budget for 360° protection suites.</a:t>
            </a:r>
          </a:p>
          <a:p>
            <a:pPr/>
            <a:r>
              <a:rPr sz="2800" b="0">
                <a:solidFill>
                  <a:srgbClr val="CCD6F6"/>
                </a:solidFill>
                <a:latin typeface="Arial"/>
              </a:rPr>
              <a:t>Result: Blind spots lead to catastrophic data breaches.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The Solution: Vuln-Shield</a:t>
            </a:r>
          </a:p>
        </p:txBody>
      </p:sp>
      <p:sp>
        <p:nvSpPr>
          <p:cNvPr id="3" name="Content Placeholder 2"/>
          <p:cNvSpPr>
            <a:spLocks noGrp="1"/>
          </p:cNvSpPr>
          <p:nvPr>
            <p:ph idx="1"/>
          </p:nvPr>
        </p:nvSpPr>
        <p:spPr/>
        <p:txBody>
          <a:bodyPr/>
          <a:lstStyle/>
          <a:p/>
          <a:p>
            <a:pPr/>
            <a:r>
              <a:rPr sz="2800" b="0">
                <a:solidFill>
                  <a:srgbClr val="CCD6F6"/>
                </a:solidFill>
                <a:latin typeface="Arial"/>
              </a:rPr>
              <a:t>A lightweight, centralized Cyber Defense Dashboard.</a:t>
            </a:r>
          </a:p>
          <a:p>
            <a:pPr/>
            <a:r>
              <a:rPr sz="2800" b="0">
                <a:solidFill>
                  <a:srgbClr val="CCD6F6"/>
                </a:solidFill>
                <a:latin typeface="Arial"/>
              </a:rPr>
              <a:t>Zero-Cost Setup: Built using Open Source tech (Node.js &amp; Vanilla JS).</a:t>
            </a:r>
          </a:p>
          <a:p>
            <a:pPr/>
            <a:r>
              <a:rPr sz="2800" b="0">
                <a:solidFill>
                  <a:srgbClr val="CCD6F6"/>
                </a:solidFill>
                <a:latin typeface="Arial"/>
              </a:rPr>
              <a:t>360° Coverage: Scans Web Servers, Employee Devices, and Global Threat Intelligence databases simultaneously.</a:t>
            </a:r>
          </a:p>
          <a:p>
            <a:pPr/>
            <a:r>
              <a:rPr sz="2800" b="0">
                <a:solidFill>
                  <a:srgbClr val="CCD6F6"/>
                </a:solidFill>
                <a:latin typeface="Arial"/>
              </a:rPr>
              <a:t>Real-time Output: Automated PDF compliance report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High-Performance System Architecture</a:t>
            </a:r>
          </a:p>
        </p:txBody>
      </p:sp>
      <p:sp>
        <p:nvSpPr>
          <p:cNvPr id="3" name="Content Placeholder 2"/>
          <p:cNvSpPr>
            <a:spLocks noGrp="1"/>
          </p:cNvSpPr>
          <p:nvPr>
            <p:ph idx="1"/>
          </p:nvPr>
        </p:nvSpPr>
        <p:spPr/>
        <p:txBody>
          <a:bodyPr/>
          <a:lstStyle/>
          <a:p/>
          <a:p>
            <a:pPr/>
            <a:r>
              <a:rPr sz="2800" b="0">
                <a:solidFill>
                  <a:srgbClr val="CCD6F6"/>
                </a:solidFill>
                <a:latin typeface="Arial"/>
              </a:rPr>
              <a:t>Frontend: Pure Vanilla JavaScript Single Page Application (SPA) for ultra-fast, non-blocking DOM updates.</a:t>
            </a:r>
          </a:p>
          <a:p>
            <a:pPr/>
            <a:r>
              <a:rPr sz="2800" b="0">
                <a:solidFill>
                  <a:srgbClr val="CCD6F6"/>
                </a:solidFill>
                <a:latin typeface="Arial"/>
              </a:rPr>
              <a:t>Backend: Express.js API designed for asynchronous concurrent vulnerability scanning.</a:t>
            </a:r>
          </a:p>
          <a:p>
            <a:pPr/>
            <a:r>
              <a:rPr sz="2800" b="0">
                <a:solidFill>
                  <a:srgbClr val="CCD6F6"/>
                </a:solidFill>
                <a:latin typeface="Arial"/>
              </a:rPr>
              <a:t>Deployment: CI/CD integrated via GitHub and hosted live on Render.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Methodology 1: Automated OWASP Auditing</a:t>
            </a:r>
          </a:p>
        </p:txBody>
      </p:sp>
      <p:sp>
        <p:nvSpPr>
          <p:cNvPr id="3" name="Content Placeholder 2"/>
          <p:cNvSpPr>
            <a:spLocks noGrp="1"/>
          </p:cNvSpPr>
          <p:nvPr>
            <p:ph idx="1"/>
          </p:nvPr>
        </p:nvSpPr>
        <p:spPr/>
        <p:txBody>
          <a:bodyPr/>
          <a:lstStyle/>
          <a:p/>
          <a:p>
            <a:pPr/>
            <a:r>
              <a:rPr sz="2800" b="0">
                <a:solidFill>
                  <a:srgbClr val="CCD6F6"/>
                </a:solidFill>
                <a:latin typeface="Arial"/>
              </a:rPr>
              <a:t>Automated parsing of HTTP Security Headers.</a:t>
            </a:r>
          </a:p>
          <a:p>
            <a:pPr/>
            <a:r>
              <a:rPr sz="2800" b="0">
                <a:solidFill>
                  <a:srgbClr val="CCD6F6"/>
                </a:solidFill>
                <a:latin typeface="Arial"/>
              </a:rPr>
              <a:t>Detects missing configurations critical to OWASP Top 10 vulnerabilities.</a:t>
            </a:r>
          </a:p>
          <a:p>
            <a:pPr/>
            <a:r>
              <a:rPr sz="2800" b="0">
                <a:solidFill>
                  <a:srgbClr val="CCD6F6"/>
                </a:solidFill>
                <a:latin typeface="Arial"/>
              </a:rPr>
              <a:t>Checks Include:</a:t>
            </a:r>
          </a:p>
          <a:p>
            <a:pPr lvl="1"/>
            <a:r>
              <a:rPr sz="2800" b="0">
                <a:solidFill>
                  <a:srgbClr val="CCD6F6"/>
                </a:solidFill>
                <a:latin typeface="Arial"/>
              </a:rPr>
              <a:t>  - Strict-Transport-Security (Prevents Downgrade attacks)</a:t>
            </a:r>
          </a:p>
          <a:p>
            <a:pPr lvl="1"/>
            <a:r>
              <a:rPr sz="2800" b="0">
                <a:solidFill>
                  <a:srgbClr val="CCD6F6"/>
                </a:solidFill>
                <a:latin typeface="Arial"/>
              </a:rPr>
              <a:t>  - X-Frame-Options (Prevents Clickjacking)</a:t>
            </a:r>
          </a:p>
          <a:p>
            <a:pPr lvl="1"/>
            <a:r>
              <a:rPr sz="2800" b="0">
                <a:solidFill>
                  <a:srgbClr val="CCD6F6"/>
                </a:solidFill>
                <a:latin typeface="Arial"/>
              </a:rPr>
              <a:t>  - X-Content-Type-Options (Prevents MIME-sniffing)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Methodology 2: Dark Web Threat Intelligence</a:t>
            </a:r>
          </a:p>
        </p:txBody>
      </p:sp>
      <p:sp>
        <p:nvSpPr>
          <p:cNvPr id="3" name="Content Placeholder 2"/>
          <p:cNvSpPr>
            <a:spLocks noGrp="1"/>
          </p:cNvSpPr>
          <p:nvPr>
            <p:ph idx="1"/>
          </p:nvPr>
        </p:nvSpPr>
        <p:spPr/>
        <p:txBody>
          <a:bodyPr/>
          <a:lstStyle/>
          <a:p/>
          <a:p>
            <a:pPr/>
            <a:r>
              <a:rPr sz="2800" b="0">
                <a:solidFill>
                  <a:srgbClr val="CCD6F6"/>
                </a:solidFill>
                <a:latin typeface="Arial"/>
              </a:rPr>
              <a:t>Live REST API integration with XposedOrNot.</a:t>
            </a:r>
          </a:p>
          <a:p>
            <a:pPr/>
            <a:r>
              <a:rPr sz="2800" b="0">
                <a:solidFill>
                  <a:srgbClr val="CCD6F6"/>
                </a:solidFill>
                <a:latin typeface="Arial"/>
              </a:rPr>
              <a:t>Scans target emails against global public data breach databases.</a:t>
            </a:r>
          </a:p>
          <a:p>
            <a:pPr/>
            <a:r>
              <a:rPr sz="2800" b="0">
                <a:solidFill>
                  <a:srgbClr val="CCD6F6"/>
                </a:solidFill>
                <a:latin typeface="Arial"/>
              </a:rPr>
              <a:t>Identifies exact breach sources (e.g., LinkedIn, Adobe) and compromised data types.</a:t>
            </a:r>
          </a:p>
          <a:p>
            <a:pPr/>
            <a:r>
              <a:rPr sz="2800" b="0">
                <a:solidFill>
                  <a:srgbClr val="CCD6F6"/>
                </a:solidFill>
                <a:latin typeface="Arial"/>
              </a:rPr>
              <a:t>Enables rapid password-rotation response.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Methodology 3: Zero-Trust Local OS Auditing</a:t>
            </a:r>
          </a:p>
        </p:txBody>
      </p:sp>
      <p:sp>
        <p:nvSpPr>
          <p:cNvPr id="3" name="Content Placeholder 2"/>
          <p:cNvSpPr>
            <a:spLocks noGrp="1"/>
          </p:cNvSpPr>
          <p:nvPr>
            <p:ph idx="1"/>
          </p:nvPr>
        </p:nvSpPr>
        <p:spPr/>
        <p:txBody>
          <a:bodyPr/>
          <a:lstStyle/>
          <a:p/>
          <a:p>
            <a:pPr/>
            <a:r>
              <a:rPr sz="2800" b="0">
                <a:solidFill>
                  <a:srgbClr val="CCD6F6"/>
                </a:solidFill>
                <a:latin typeface="Arial"/>
              </a:rPr>
              <a:t>Performs browser-fingerprinting and local OS evaluation.</a:t>
            </a:r>
          </a:p>
          <a:p>
            <a:pPr/>
            <a:r>
              <a:rPr sz="2800" b="0">
                <a:solidFill>
                  <a:srgbClr val="CCD6F6"/>
                </a:solidFill>
                <a:latin typeface="Arial"/>
              </a:rPr>
              <a:t>Verifies secure transport protocols.</a:t>
            </a:r>
          </a:p>
          <a:p>
            <a:pPr/>
            <a:r>
              <a:rPr sz="2800" b="0">
                <a:solidFill>
                  <a:srgbClr val="CCD6F6"/>
                </a:solidFill>
                <a:latin typeface="Arial"/>
              </a:rPr>
              <a:t>Gamified compliance scoring system (0-100%).</a:t>
            </a:r>
          </a:p>
          <a:p>
            <a:pPr/>
            <a:r>
              <a:rPr sz="2800" b="0">
                <a:solidFill>
                  <a:srgbClr val="CCD6F6"/>
                </a:solidFill>
                <a:latin typeface="Arial"/>
              </a:rPr>
              <a:t>Ensures endpoint security before granting network access.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Methodology 4: Laptop &amp; Mobile Spyware Scanner</a:t>
            </a:r>
          </a:p>
        </p:txBody>
      </p:sp>
      <p:sp>
        <p:nvSpPr>
          <p:cNvPr id="3" name="Content Placeholder 2"/>
          <p:cNvSpPr>
            <a:spLocks noGrp="1"/>
          </p:cNvSpPr>
          <p:nvPr>
            <p:ph idx="1"/>
          </p:nvPr>
        </p:nvSpPr>
        <p:spPr/>
        <p:txBody>
          <a:bodyPr/>
          <a:lstStyle/>
          <a:p/>
          <a:p>
            <a:pPr/>
            <a:r>
              <a:rPr sz="2800" b="0">
                <a:solidFill>
                  <a:srgbClr val="CCD6F6"/>
                </a:solidFill>
                <a:latin typeface="Arial"/>
              </a:rPr>
              <a:t>Universal browser-based forensics engine detecting active spyware.</a:t>
            </a:r>
          </a:p>
          <a:p>
            <a:pPr/>
            <a:r>
              <a:rPr sz="2800" b="0">
                <a:solidFill>
                  <a:srgbClr val="CCD6F6"/>
                </a:solidFill>
                <a:latin typeface="Arial"/>
              </a:rPr>
              <a:t>Analyzes WebRTC, MediaDevices, and network data for rogue tracking.</a:t>
            </a:r>
          </a:p>
          <a:p>
            <a:pPr/>
            <a:r>
              <a:rPr sz="2800" b="0">
                <a:solidFill>
                  <a:srgbClr val="CCD6F6"/>
                </a:solidFill>
                <a:latin typeface="Arial"/>
              </a:rPr>
              <a:t>Identifies unencrypted HTTP traffic and missing Do-Not-Track headers.</a:t>
            </a:r>
          </a:p>
          <a:p>
            <a:pPr/>
            <a:r>
              <a:rPr sz="2800" b="0">
                <a:solidFill>
                  <a:srgbClr val="CCD6F6"/>
                </a:solidFill>
                <a:latin typeface="Arial"/>
              </a:rPr>
              <a:t>Instantly alerts users to device compromise or active hacking.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Live AI Attack &amp; Defense Simulator</a:t>
            </a:r>
          </a:p>
        </p:txBody>
      </p:sp>
      <p:sp>
        <p:nvSpPr>
          <p:cNvPr id="3" name="Content Placeholder 2"/>
          <p:cNvSpPr>
            <a:spLocks noGrp="1"/>
          </p:cNvSpPr>
          <p:nvPr>
            <p:ph idx="1"/>
          </p:nvPr>
        </p:nvSpPr>
        <p:spPr/>
        <p:txBody>
          <a:bodyPr/>
          <a:lstStyle/>
          <a:p/>
          <a:p>
            <a:pPr/>
            <a:r>
              <a:rPr sz="2800" b="0">
                <a:solidFill>
                  <a:srgbClr val="CCD6F6"/>
                </a:solidFill>
                <a:latin typeface="Arial"/>
              </a:rPr>
              <a:t>Interactive exploit lab demonstrating real-time attack vs AI defense.</a:t>
            </a:r>
          </a:p>
          <a:p>
            <a:pPr/>
            <a:r>
              <a:rPr sz="2800" b="0">
                <a:solidFill>
                  <a:srgbClr val="CCD6F6"/>
                </a:solidFill>
                <a:latin typeface="Arial"/>
              </a:rPr>
              <a:t>Showcases 4 scenarios: SQL Injection, AWS Secrets, Stored XSS, Android Backdoor.</a:t>
            </a:r>
          </a:p>
          <a:p>
            <a:pPr/>
            <a:r>
              <a:rPr sz="2800" b="0">
                <a:solidFill>
                  <a:srgbClr val="CCD6F6"/>
                </a:solidFill>
                <a:latin typeface="Arial"/>
              </a:rPr>
              <a:t>Executes simulated attacks and immediately deploys AI-generated code patches.</a:t>
            </a:r>
          </a:p>
          <a:p>
            <a:pPr/>
            <a:r>
              <a:rPr sz="2800" b="0">
                <a:solidFill>
                  <a:srgbClr val="CCD6F6"/>
                </a:solidFill>
                <a:latin typeface="Arial"/>
              </a:rPr>
              <a:t>Reduces time-to-fix (TTF) from hours to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Automated PDF Executive Reporting</a:t>
            </a:r>
          </a:p>
        </p:txBody>
      </p:sp>
      <p:sp>
        <p:nvSpPr>
          <p:cNvPr id="3" name="Content Placeholder 2"/>
          <p:cNvSpPr>
            <a:spLocks noGrp="1"/>
          </p:cNvSpPr>
          <p:nvPr>
            <p:ph idx="1"/>
          </p:nvPr>
        </p:nvSpPr>
        <p:spPr/>
        <p:txBody>
          <a:bodyPr/>
          <a:lstStyle/>
          <a:p/>
          <a:p>
            <a:pPr/>
            <a:r>
              <a:rPr sz="2800" b="0">
                <a:solidFill>
                  <a:srgbClr val="CCD6F6"/>
                </a:solidFill>
                <a:latin typeface="Arial"/>
              </a:rPr>
              <a:t>Aggregates data from all three scan vectors.</a:t>
            </a:r>
          </a:p>
          <a:p>
            <a:pPr/>
            <a:r>
              <a:rPr sz="2800" b="0">
                <a:solidFill>
                  <a:srgbClr val="CCD6F6"/>
                </a:solidFill>
                <a:latin typeface="Arial"/>
              </a:rPr>
              <a:t>Utilizes jspdf and jspdf-autotable libraries.</a:t>
            </a:r>
          </a:p>
          <a:p>
            <a:pPr/>
            <a:r>
              <a:rPr sz="2800" b="0">
                <a:solidFill>
                  <a:srgbClr val="CCD6F6"/>
                </a:solidFill>
                <a:latin typeface="Arial"/>
              </a:rPr>
              <a:t>Generates a professional, exportable compliance document.</a:t>
            </a:r>
          </a:p>
          <a:p>
            <a:pPr/>
            <a:r>
              <a:rPr sz="2800" b="0">
                <a:solidFill>
                  <a:srgbClr val="CCD6F6"/>
                </a:solidFill>
                <a:latin typeface="Arial"/>
              </a:rPr>
              <a:t>Translates raw technical JSON data into readable formats for C-Level executives.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Future Scope: The Road Ahead</a:t>
            </a:r>
          </a:p>
        </p:txBody>
      </p:sp>
      <p:sp>
        <p:nvSpPr>
          <p:cNvPr id="3" name="Content Placeholder 2"/>
          <p:cNvSpPr>
            <a:spLocks noGrp="1"/>
          </p:cNvSpPr>
          <p:nvPr>
            <p:ph idx="1"/>
          </p:nvPr>
        </p:nvSpPr>
        <p:spPr/>
        <p:txBody>
          <a:bodyPr/>
          <a:lstStyle/>
          <a:p/>
          <a:p>
            <a:pPr/>
            <a:r>
              <a:rPr sz="2800" b="0">
                <a:solidFill>
                  <a:srgbClr val="CCD6F6"/>
                </a:solidFill>
                <a:latin typeface="Arial"/>
              </a:rPr>
              <a:t>AI Auto-Fix: Integrating LLMs to automatically write the patch to fix vulnerable code.</a:t>
            </a:r>
          </a:p>
          <a:p>
            <a:pPr/>
            <a:r>
              <a:rPr sz="2800" b="0">
                <a:solidFill>
                  <a:srgbClr val="CCD6F6"/>
                </a:solidFill>
                <a:latin typeface="Arial"/>
              </a:rPr>
              <a:t>Automated Scheduling: Setting up Cron jobs to run Vuln-Shield audits every midnight automatically.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itle 1"/>
          <p:cNvSpPr>
            <a:spLocks noGrp="1"/>
          </p:cNvSpPr>
          <p:nvPr>
            <p:ph type="title"/>
          </p:nvPr>
        </p:nvSpPr>
        <p:spPr/>
        <p:txBody>
          <a:bodyPr/>
          <a:lstStyle/>
          <a:p>
            <a:r>
              <a:rPr sz="4400" b="1">
                <a:solidFill>
                  <a:srgbClr val="0AFF89"/>
                </a:solidFill>
                <a:latin typeface="Arial"/>
              </a:rPr>
              <a:t>Conclusion</a:t>
            </a:r>
          </a:p>
        </p:txBody>
      </p:sp>
      <p:sp>
        <p:nvSpPr>
          <p:cNvPr id="3" name="Content Placeholder 2"/>
          <p:cNvSpPr>
            <a:spLocks noGrp="1"/>
          </p:cNvSpPr>
          <p:nvPr>
            <p:ph idx="1"/>
          </p:nvPr>
        </p:nvSpPr>
        <p:spPr/>
        <p:txBody>
          <a:bodyPr/>
          <a:lstStyle/>
          <a:p/>
          <a:p>
            <a:pPr/>
            <a:r>
              <a:rPr sz="2800" b="0">
                <a:solidFill>
                  <a:srgbClr val="CCD6F6"/>
                </a:solidFill>
                <a:latin typeface="Arial"/>
              </a:rPr>
              <a:t>"Security is not a product, but a process."</a:t>
            </a:r>
          </a:p>
          <a:p>
            <a:pPr/>
            <a:r>
              <a:rPr sz="2800" b="0">
                <a:solidFill>
                  <a:srgbClr val="CCD6F6"/>
                </a:solidFill>
                <a:latin typeface="Arial"/>
              </a:rPr>
              <a:t>Vuln-Shield proves that enterprise-grade security can be lightweight, fast, and accessible to startups.</a:t>
            </a:r>
          </a:p>
          <a:p>
            <a:pPr/>
            <a:r>
              <a:rPr sz="2800" b="0">
                <a:solidFill>
                  <a:srgbClr val="CCD6F6"/>
                </a:solidFill>
                <a:latin typeface="Arial"/>
              </a:rPr>
              <a:t>Thank You!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